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JetBrains Mono Medium"/>
      <p:regular r:id="rId21"/>
      <p:bold r:id="rId22"/>
      <p:italic r:id="rId23"/>
      <p:boldItalic r:id="rId24"/>
    </p:embeddedFont>
    <p:embeddedFont>
      <p:font typeface="Outfit"/>
      <p:regular r:id="rId25"/>
      <p:bold r:id="rId26"/>
    </p:embeddedFont>
    <p:embeddedFont>
      <p:font typeface="Outfit SemiBold"/>
      <p:regular r:id="rId27"/>
      <p:bold r:id="rId28"/>
    </p:embeddedFont>
    <p:embeddedFont>
      <p:font typeface="JetBrains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45C1FB-E871-4995-8BFC-E9E17F9249FD}">
  <a:tblStyle styleId="{0C45C1FB-E871-4995-8BFC-E9E17F9249F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JetBrainsMonoMedium-bold.fntdata"/><Relationship Id="rId21" Type="http://schemas.openxmlformats.org/officeDocument/2006/relationships/font" Target="fonts/JetBrainsMonoMedium-regular.fntdata"/><Relationship Id="rId24" Type="http://schemas.openxmlformats.org/officeDocument/2006/relationships/font" Target="fonts/JetBrainsMonoMedium-boldItalic.fntdata"/><Relationship Id="rId23" Type="http://schemas.openxmlformats.org/officeDocument/2006/relationships/font" Target="fonts/JetBrainsMono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utfit-bold.fntdata"/><Relationship Id="rId25" Type="http://schemas.openxmlformats.org/officeDocument/2006/relationships/font" Target="fonts/Outfit-regular.fntdata"/><Relationship Id="rId28" Type="http://schemas.openxmlformats.org/officeDocument/2006/relationships/font" Target="fonts/OutfitSemiBold-bold.fntdata"/><Relationship Id="rId27" Type="http://schemas.openxmlformats.org/officeDocument/2006/relationships/font" Target="fonts/Outfit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etBrainsMono-italic.fntdata"/><Relationship Id="rId30" Type="http://schemas.openxmlformats.org/officeDocument/2006/relationships/font" Target="fonts/JetBrainsMon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JetBrains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5" Type="http://schemas.openxmlformats.org/officeDocument/2006/relationships/image" Target="../media/image21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37.png"/><Relationship Id="rId5" Type="http://schemas.openxmlformats.org/officeDocument/2006/relationships/image" Target="../media/image21.png"/><Relationship Id="rId6" Type="http://schemas.openxmlformats.org/officeDocument/2006/relationships/image" Target="../media/image5.png"/><Relationship Id="rId7" Type="http://schemas.openxmlformats.org/officeDocument/2006/relationships/image" Target="../media/image15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5" Type="http://schemas.openxmlformats.org/officeDocument/2006/relationships/image" Target="../media/image4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Relationship Id="rId7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9" Type="http://schemas.openxmlformats.org/officeDocument/2006/relationships/image" Target="../media/image28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Relationship Id="rId7" Type="http://schemas.openxmlformats.org/officeDocument/2006/relationships/image" Target="../media/image36.png"/><Relationship Id="rId8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29.png"/><Relationship Id="rId5" Type="http://schemas.openxmlformats.org/officeDocument/2006/relationships/image" Target="../media/image38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609975" y="1478458"/>
            <a:ext cx="4972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FB95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AI-POWERED CODE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485673" y="1926133"/>
            <a:ext cx="52206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AI-Based Code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 Quality </a:t>
            </a:r>
            <a:endParaRPr b="1" sz="5400">
              <a:solidFill>
                <a:srgbClr val="F0F6FC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5400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Analyzer</a:t>
            </a:r>
            <a:endParaRPr b="1" sz="5400">
              <a:solidFill>
                <a:srgbClr val="F0F6F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831075" y="4835143"/>
            <a:ext cx="4972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Hybrid Static Analysis &amp; Multi-LLM Review Workflow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4501455"/>
            <a:ext cx="95250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734275" y="5315353"/>
            <a:ext cx="4972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Presented By: </a:t>
            </a:r>
            <a:r>
              <a:rPr lang="en-US" sz="1650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Jainab Bee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52662"/>
            <a:ext cx="348615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52662"/>
            <a:ext cx="348615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252662"/>
            <a:ext cx="34861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76300" y="3348037"/>
            <a:ext cx="30403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Review Bottlenecks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76300" y="3852862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Manual code reviews are time-intensive, causing deployment delays and engineer burnout in fast-paced teams.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48200" y="3348037"/>
            <a:ext cx="30403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Technical Debt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48200" y="3852862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Complexity often accumulates silently without metrics, leading to brittle and unmaintainable codebases over time.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20100" y="3348037"/>
            <a:ext cx="30403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Inconsistency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20100" y="3852862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Varied developer standards result in fragmented code quality, making it difficult to maintain unified best practices.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60508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6050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6050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09625" y="581025"/>
            <a:ext cx="1134141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58A6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Problem Statement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81025" y="581025"/>
            <a:ext cx="57150" cy="523875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85987"/>
            <a:ext cx="5276850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95512"/>
            <a:ext cx="525780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009650" y="2185987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Static Triage: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Immediate identification of "code smells" and structural issues using AST parsing.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09650" y="3033712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Metric Analysis: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Quantifiable maintainability through industry-standard Cyclomatic Complexity metrics.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09650" y="3881437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AI Reasoning: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Leveraging Generative AI to provide context-aware and actionable refactoring advice.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09650" y="4729162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Workflow Automation: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Continuous quality enforcement through automated Git Hook integration.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2240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0718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9195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7672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809625" y="581025"/>
            <a:ext cx="1134141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58A6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Core Mission &amp; Objectives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81025" y="581025"/>
            <a:ext cx="57150" cy="523875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" name="Google Shape;131;p16"/>
          <p:cNvGraphicFramePr/>
          <p:nvPr/>
        </p:nvGraphicFramePr>
        <p:xfrm>
          <a:off x="581025" y="21041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{0C45C1FB-E871-4995-8BFC-E9E17F9249FD}</a:tableStyleId>
              </a:tblPr>
              <a:tblGrid>
                <a:gridCol w="2119750"/>
                <a:gridCol w="2526800"/>
                <a:gridCol w="6383375"/>
              </a:tblGrid>
              <a:tr h="71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58A6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58A6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Technology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58A6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Role in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</a:tr>
              <a:tr h="71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Parsing Engine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ast (Python StdLib)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Abstract Syntax Tree mapping for structural inspection.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Quality Metrics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radon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Calculation of Complexity and Maintainability Index.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Intelligence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Gemini / Ollama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Hybrid cloud/local LLM feedback relay mechanism.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User Interface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Streamlit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Interactive dashboard for real-time code evaluation.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" name="Google Shape;132;p16"/>
          <p:cNvSpPr/>
          <p:nvPr/>
        </p:nvSpPr>
        <p:spPr>
          <a:xfrm>
            <a:off x="581025" y="2848867"/>
            <a:ext cx="2119758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2700783" y="2848867"/>
            <a:ext cx="2526803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227587" y="2848867"/>
            <a:ext cx="6383387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81025" y="3558480"/>
            <a:ext cx="2119758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2700783" y="3558480"/>
            <a:ext cx="2526803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227587" y="3558480"/>
            <a:ext cx="6383387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81025" y="4253805"/>
            <a:ext cx="2119758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2700783" y="4253805"/>
            <a:ext cx="2526803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227587" y="4253805"/>
            <a:ext cx="6383387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81025" y="4949130"/>
            <a:ext cx="2119758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700783" y="4949130"/>
            <a:ext cx="2526803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227587" y="4949130"/>
            <a:ext cx="6383387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81025" y="5644455"/>
            <a:ext cx="2119758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2700783" y="5644455"/>
            <a:ext cx="2526803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227587" y="5644455"/>
            <a:ext cx="6383387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809625" y="581025"/>
            <a:ext cx="1134141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58A6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Technical Stack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581025" y="581025"/>
            <a:ext cx="57150" cy="523875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90762"/>
            <a:ext cx="527685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90762"/>
            <a:ext cx="527685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81025" y="5014912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FB95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Validation enforced via safe_parse error handling.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71550" y="26812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AST Extraction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71550" y="3186112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Maps imports, functions, classes, and loops using </a:t>
            </a:r>
            <a:r>
              <a:rPr b="0" i="0" lang="en-US" sz="1500" u="none" cap="none" strike="noStrike">
                <a:solidFill>
                  <a:srgbClr val="58A6FF"/>
                </a:solidFill>
                <a:latin typeface="Outfit"/>
                <a:ea typeface="Outfit"/>
                <a:cs typeface="Outfit"/>
                <a:sym typeface="Outfit"/>
              </a:rPr>
              <a:t>ast.walk()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to build a comprehensive logic map of the source file.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724650" y="26812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Complexity Calculation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724650" y="3186112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Custom </a:t>
            </a:r>
            <a:r>
              <a:rPr b="0" i="0" lang="en-US" sz="1500" u="none" cap="none" strike="noStrike">
                <a:solidFill>
                  <a:srgbClr val="58A6FF"/>
                </a:solidFill>
                <a:latin typeface="Outfit"/>
                <a:ea typeface="Outfit"/>
                <a:cs typeface="Outfit"/>
                <a:sym typeface="Outfit"/>
              </a:rPr>
              <a:t>cyclomatic_complexity_ast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counts decision nodes (If, For, While, Try) to measure logical depth.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09625" y="581025"/>
            <a:ext cx="1134141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58A6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Module 1: Structural Analysis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81025" y="581025"/>
            <a:ext cx="57150" cy="523875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52662"/>
            <a:ext cx="348615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52662"/>
            <a:ext cx="348615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252662"/>
            <a:ext cx="34861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876300" y="3348037"/>
            <a:ext cx="30403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Naming Standards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76300" y="3852862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Flags function/variable identifiers under 4 characters to ensure meaningful self-documentation.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4648200" y="3348037"/>
            <a:ext cx="30403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Documentation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4648200" y="3852862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Verifies existence of docstrings across all defined classes and functions to maintain high readability.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420100" y="3348037"/>
            <a:ext cx="30403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Issue Severity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420100" y="3852862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Classifies detected smells into </a:t>
            </a:r>
            <a:r>
              <a:rPr b="0" i="0" lang="en-US" sz="1500" u="none" cap="none" strike="noStrike">
                <a:solidFill>
                  <a:srgbClr val="58A6FF"/>
                </a:solidFill>
                <a:latin typeface="Outfit"/>
                <a:ea typeface="Outfit"/>
                <a:cs typeface="Outfit"/>
                <a:sym typeface="Outfit"/>
              </a:rPr>
              <a:t>INFO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b="0" i="0" lang="en-US" sz="1500" u="none" cap="none" strike="noStrike">
                <a:solidFill>
                  <a:srgbClr val="E3B341"/>
                </a:solidFill>
                <a:latin typeface="Outfit"/>
                <a:ea typeface="Outfit"/>
                <a:cs typeface="Outfit"/>
                <a:sym typeface="Outfit"/>
              </a:rPr>
              <a:t>WARNING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, or </a:t>
            </a:r>
            <a:r>
              <a:rPr b="0" i="0" lang="en-US" sz="1500" u="none" cap="none" strike="noStrike">
                <a:solidFill>
                  <a:srgbClr val="F85149"/>
                </a:solidFill>
                <a:latin typeface="Outfit"/>
                <a:ea typeface="Outfit"/>
                <a:cs typeface="Outfit"/>
                <a:sym typeface="Outfit"/>
              </a:rPr>
              <a:t>CRITICAL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levels.</a:t>
            </a:r>
            <a:endParaRPr/>
          </a:p>
        </p:txBody>
      </p:sp>
      <p:pic>
        <p:nvPicPr>
          <p:cNvPr descr="image.png" id="177" name="Google Shape;17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6050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6050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605087"/>
            <a:ext cx="2857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809625" y="581025"/>
            <a:ext cx="1134141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58A6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Module 2: Issue Detection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81025" y="581025"/>
            <a:ext cx="57150" cy="523875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28912"/>
            <a:ext cx="4963417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1066800" y="3214687"/>
            <a:ext cx="399186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3FB950"/>
                </a:solidFill>
                <a:latin typeface="Outfit"/>
                <a:ea typeface="Outfit"/>
                <a:cs typeface="Outfit"/>
                <a:sym typeface="Outfit"/>
              </a:rPr>
              <a:t>90+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066800" y="4357687"/>
            <a:ext cx="399186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Outfit"/>
                <a:ea typeface="Outfit"/>
                <a:cs typeface="Outfit"/>
                <a:sym typeface="Outfit"/>
              </a:rPr>
              <a:t>EXCELLENT GRADE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115942" y="2686050"/>
            <a:ext cx="57697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Quantitative Health Score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115942" y="3190875"/>
            <a:ext cx="549503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Final health grade is calculated by applying penalties to a base score of 100 based on: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544567" y="3990975"/>
            <a:ext cx="506640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Critical Penalty: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High Complexity (CC &gt; 10)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544567" y="4533900"/>
            <a:ext cx="506640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Maintenance Penalty: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MI &lt; 65</a:t>
            </a:r>
            <a:endParaRPr/>
          </a:p>
        </p:txBody>
      </p:sp>
      <p:pic>
        <p:nvPicPr>
          <p:cNvPr descr="image.png" id="194" name="Google Shape;19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5942" y="40290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5942" y="45720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809625" y="581025"/>
            <a:ext cx="1134141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58A6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Module 3: Scoring &amp; Metrics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81025" y="581025"/>
            <a:ext cx="57150" cy="523875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0075" y="1866063"/>
            <a:ext cx="4276175" cy="402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581025" y="2038350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Hybrid Intelligence Relay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81025" y="254317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The feedback engine utilizes a fail-safe hierarchy to ensure intelligent review is always available: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581025" y="4962525"/>
            <a:ext cx="5276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FB950"/>
                </a:solidFill>
                <a:latin typeface="Outfit"/>
                <a:ea typeface="Outfit"/>
                <a:cs typeface="Outfit"/>
                <a:sym typeface="Outfit"/>
              </a:rPr>
              <a:t>Note: Fallback to static rule-based tips if AI engines are unreachable.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81025" y="4772025"/>
            <a:ext cx="52768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47700" y="3343275"/>
            <a:ext cx="123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1.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771525" y="3343275"/>
            <a:ext cx="527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OpenRouter: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Primary cloud-based high-reasoning model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s.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09600" y="3762375"/>
            <a:ext cx="161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2.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771525" y="3762375"/>
            <a:ext cx="535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Ollam</a:t>
            </a: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a: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Privacy-first local fallback for offline environments.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19125" y="418147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3.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771525" y="4181475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Gemini: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Direct Google AI integration for Python refactoring.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809625" y="581025"/>
            <a:ext cx="1134141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58A6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Module 4: The AI Engine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581025" y="581025"/>
            <a:ext cx="57150" cy="523875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 neuron brain represtaion" id="216" name="Google Shape;21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0075" y="1973150"/>
            <a:ext cx="4276175" cy="388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/>
          <p:nvPr/>
        </p:nvSpPr>
        <p:spPr>
          <a:xfrm>
            <a:off x="581025" y="3624262"/>
            <a:ext cx="1102995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520362" y="3910012"/>
            <a:ext cx="254781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Commit Trigger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581025" y="4414837"/>
            <a:ext cx="24264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Hook script intercepts the </a:t>
            </a:r>
            <a:r>
              <a:rPr b="0" i="0" lang="en-US" sz="1500" u="none" cap="none" strike="noStrike">
                <a:solidFill>
                  <a:srgbClr val="58A6FF"/>
                </a:solidFill>
                <a:latin typeface="Outfit"/>
                <a:ea typeface="Outfit"/>
                <a:cs typeface="Outfit"/>
                <a:sym typeface="Outfit"/>
              </a:rPr>
              <a:t>git commit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action.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3388131" y="3910012"/>
            <a:ext cx="254781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Staged Scan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3448794" y="4414837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Analyzes only staged changes to ensure rapid developer feedback.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255900" y="3910012"/>
            <a:ext cx="254781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Validation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316563" y="4414837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Evaluates code against the "Critical Issue" gatekeeper rules.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9123670" y="3910012"/>
            <a:ext cx="254781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Gate Result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9184332" y="4414837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Blocks commit if serious issues are found, ensuring clean history.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809625" y="581025"/>
            <a:ext cx="1134141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58A6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Module 5: Git Hook Integration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581025" y="581025"/>
            <a:ext cx="57150" cy="523875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1708546" y="4271962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4576316" y="4271962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7444085" y="4271962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10311854" y="4271962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809625" y="581025"/>
            <a:ext cx="4950618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58A6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Module 6: Frontend UX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581025" y="581025"/>
            <a:ext cx="57150" cy="523875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581025" y="2466975"/>
            <a:ext cx="519064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Interactive Dashboard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581025" y="2971800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A streamlined Streamlit interface designed for rapid developer onboarding: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1009650" y="3724275"/>
            <a:ext cx="4514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Dual-Input: Multi-file upload or code paste.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009650" y="4267200"/>
            <a:ext cx="4514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Metrics: Project Score and Complexity gauges.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1009650" y="4810125"/>
            <a:ext cx="4514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Reports: Downloadable CSV and HTML summaries.</a:t>
            </a:r>
            <a:endParaRPr/>
          </a:p>
        </p:txBody>
      </p:sp>
      <p:pic>
        <p:nvPicPr>
          <p:cNvPr descr="image.png"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76237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3053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8482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 title="Screenshot 2026-02-18 15330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60250" y="1645925"/>
            <a:ext cx="6313048" cy="387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05062"/>
            <a:ext cx="348615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05062"/>
            <a:ext cx="348615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405062"/>
            <a:ext cx="348615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876300" y="3500437"/>
            <a:ext cx="30403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Auto-Fix Engine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876300" y="4005262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Automated cleaning of debug prints and formatting based on static smell detection.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4648200" y="3500437"/>
            <a:ext cx="30403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Configurability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4648200" y="4005262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Custom thresholds and exclusion rules defined via project </a:t>
            </a:r>
            <a:r>
              <a:rPr b="0" i="0" lang="en-US" sz="1500" u="none" cap="none" strike="noStrike">
                <a:solidFill>
                  <a:srgbClr val="58A6FF"/>
                </a:solidFill>
                <a:latin typeface="Outfit"/>
                <a:ea typeface="Outfit"/>
                <a:cs typeface="Outfit"/>
                <a:sym typeface="Outfit"/>
              </a:rPr>
              <a:t>toml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files.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8420100" y="3500437"/>
            <a:ext cx="30403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Actionable Tips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8420100" y="4005262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Concise, prioritized feedback lists for immediate refactoring and code improvement.</a:t>
            </a:r>
            <a:endParaRPr/>
          </a:p>
        </p:txBody>
      </p:sp>
      <p:pic>
        <p:nvPicPr>
          <p:cNvPr descr="image.png" id="267" name="Google Shape;26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7574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7574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7574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809625" y="581025"/>
            <a:ext cx="1134141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58A6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Key Features Summary</a:t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581025" y="581025"/>
            <a:ext cx="57150" cy="523875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85987"/>
            <a:ext cx="5276850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95512"/>
            <a:ext cx="525780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1009650" y="2185987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Multi-Language: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Expanding AST parsing rules for Java and JavaScript support.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1009650" y="3033712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CI/CD Integration: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Seamless cloud-native runners for GitHub Actions and GitLab CI.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1009650" y="3881437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Advanced Security: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Vulnerability scanning for dependencies and OWASP rule-checking.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1009650" y="4729162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Self-Learning: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Fine-tuning local models on project-specific coding styles.</a:t>
            </a:r>
            <a:endParaRPr/>
          </a:p>
        </p:txBody>
      </p:sp>
      <p:pic>
        <p:nvPicPr>
          <p:cNvPr descr="image.png" id="283" name="Google Shape;28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2240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0718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39195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47672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/>
          <p:nvPr/>
        </p:nvSpPr>
        <p:spPr>
          <a:xfrm>
            <a:off x="809625" y="581025"/>
            <a:ext cx="1134141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58A6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Future Work &amp; Roadmap</a:t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581025" y="581025"/>
            <a:ext cx="57150" cy="523875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3" name="Google Shape;29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71725"/>
            <a:ext cx="4963417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1066800" y="2857500"/>
            <a:ext cx="3991867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FB950"/>
                </a:solidFill>
                <a:latin typeface="Outfit"/>
                <a:ea typeface="Outfit"/>
                <a:cs typeface="Outfit"/>
                <a:sym typeface="Outfit"/>
              </a:rPr>
              <a:t>95%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1066800" y="3810000"/>
            <a:ext cx="399186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Outfit"/>
                <a:ea typeface="Outfit"/>
                <a:cs typeface="Outfit"/>
                <a:sym typeface="Outfit"/>
              </a:rPr>
              <a:t>AUTOMATION COVERAGE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6115942" y="2164258"/>
            <a:ext cx="5769783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0F6FC"/>
                </a:solidFill>
                <a:latin typeface="Outfit"/>
                <a:ea typeface="Outfit"/>
                <a:cs typeface="Outfit"/>
                <a:sym typeface="Outfit"/>
              </a:rPr>
              <a:t>Conclusion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6115942" y="2954833"/>
            <a:ext cx="5495032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The AI-Based Code Quality Analyzer streamlines the development lifecycle by bridging the gap between deterministic static analysis and human-like reasoning.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6115942" y="4246066"/>
            <a:ext cx="549503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FB95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Standardizing quality. One commit at a time.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6"/>
          <p:cNvSpPr txBox="1"/>
          <p:nvPr/>
        </p:nvSpPr>
        <p:spPr>
          <a:xfrm>
            <a:off x="305276" y="2014537"/>
            <a:ext cx="1158144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58A6FF"/>
                </a:solidFill>
                <a:latin typeface="Outfit"/>
                <a:ea typeface="Outfit"/>
                <a:cs typeface="Outfit"/>
                <a:sym typeface="Outfit"/>
              </a:rPr>
              <a:t>Questions?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581025" y="352901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Thank you for your attention!</a:t>
            </a:r>
            <a:endParaRPr/>
          </a:p>
        </p:txBody>
      </p:sp>
      <p:sp>
        <p:nvSpPr>
          <p:cNvPr id="307" name="Google Shape;307;p26"/>
          <p:cNvSpPr/>
          <p:nvPr/>
        </p:nvSpPr>
        <p:spPr>
          <a:xfrm>
            <a:off x="4667250" y="4595812"/>
            <a:ext cx="28575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 txBox="1"/>
          <p:nvPr/>
        </p:nvSpPr>
        <p:spPr>
          <a:xfrm>
            <a:off x="581025" y="4986337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84F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https://github.com/jainab-bee/code_analyzer.git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